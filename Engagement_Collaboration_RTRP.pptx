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2"/>
  </p:notesMasterIdLst>
  <p:sldIdLst>
    <p:sldId id="274" r:id="rId3"/>
    <p:sldId id="27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81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43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Held-out test F1</c:v>
                </c:pt>
              </c:strCache>
            </c:strRef>
          </c:tx>
          <c:spPr>
            <a:solidFill>
              <a:srgbClr val="A6ACB5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05535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F1C-4159-99BB-C0A89EBB1318}"/>
              </c:ext>
            </c:extLst>
          </c:dPt>
          <c:dPt>
            <c:idx val="1"/>
            <c:invertIfNegative val="1"/>
            <c:bubble3D val="0"/>
            <c:spPr>
              <a:solidFill>
                <a:srgbClr val="D85A0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F1C-4159-99BB-C0A89EBB131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Engaged</c:v>
                </c:pt>
                <c:pt idx="1">
                  <c:v>Not Engaged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0.82699999999999996</c:v>
                </c:pt>
                <c:pt idx="1">
                  <c:v>0.64200000000000002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DF1C-4159-99BB-C0A89EBB131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6DCE5"/>
            </a:solidFill>
          </a:ln>
        </c:spPr>
        <c:txPr>
          <a:bodyPr/>
          <a:lstStyle/>
          <a:p>
            <a:pPr>
              <a:defRPr sz="1050">
                <a:solidFill>
                  <a:srgbClr val="1A1A1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0"/>
        <c:axPos val="l"/>
        <c:majorGridlines>
          <c:spPr>
            <a:ln w="6350">
              <a:solidFill>
                <a:srgbClr val="D6DC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59595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99E-41C0-B4B0-91E5E5F57F4D}"/>
              </c:ext>
            </c:extLst>
          </c:dPt>
          <c:dPt>
            <c:idx val="1"/>
            <c:invertIfNegative val="1"/>
            <c:bubble3D val="0"/>
            <c:spPr>
              <a:solidFill>
                <a:srgbClr val="59595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99E-41C0-B4B0-91E5E5F57F4D}"/>
              </c:ext>
            </c:extLst>
          </c:dPt>
          <c:dPt>
            <c:idx val="2"/>
            <c:invertIfNegative val="1"/>
            <c:bubble3D val="0"/>
            <c:spPr>
              <a:solidFill>
                <a:srgbClr val="05535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E99E-41C0-B4B0-91E5E5F57F4D}"/>
              </c:ext>
            </c:extLst>
          </c:dPt>
          <c:dPt>
            <c:idx val="3"/>
            <c:invertIfNegative val="1"/>
            <c:bubble3D val="0"/>
            <c:spPr>
              <a:solidFill>
                <a:srgbClr val="2E7D3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E99E-41C0-B4B0-91E5E5F57F4D}"/>
              </c:ext>
            </c:extLst>
          </c:dPt>
          <c:dPt>
            <c:idx val="4"/>
            <c:invertIfNegative val="1"/>
            <c:bubble3D val="0"/>
            <c:spPr>
              <a:solidFill>
                <a:srgbClr val="E2000F"/>
              </a:solidFill>
            </c:spPr>
            <c:extLst>
              <c:ext xmlns:c16="http://schemas.microsoft.com/office/drawing/2014/chart" uri="{C3380CC4-5D6E-409C-BE32-E72D297353CC}">
                <c16:uniqueId val="{00000009-E99E-41C0-B4B0-91E5E5F57F4D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A1A1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features</c:v>
                </c:pt>
                <c:pt idx="1">
                  <c:v>signals</c:v>
                </c:pt>
                <c:pt idx="2">
                  <c:v>both</c:v>
                </c:pt>
                <c:pt idx="3">
                  <c:v>+ gaze</c:v>
                </c:pt>
                <c:pt idx="4">
                  <c:v>shuffle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0.53</c:v>
                </c:pt>
                <c:pt idx="2">
                  <c:v>0.66700000000000004</c:v>
                </c:pt>
                <c:pt idx="3">
                  <c:v>0.76400000000000001</c:v>
                </c:pt>
                <c:pt idx="4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9E-41C0-B4B0-91E5E5F57F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6DCE5"/>
            </a:solidFill>
          </a:ln>
        </c:spPr>
        <c:txPr>
          <a:bodyPr/>
          <a:lstStyle/>
          <a:p>
            <a:pPr>
              <a:defRPr sz="1050">
                <a:solidFill>
                  <a:srgbClr val="1A1A1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"/>
          <c:min val="0"/>
        </c:scaling>
        <c:delete val="0"/>
        <c:axPos val="l"/>
        <c:majorGridlines>
          <c:spPr>
            <a:ln w="6350">
              <a:solidFill>
                <a:srgbClr val="D6DCE5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595959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D7335-B84E-4B9A-92C3-3E23DDE1BA9C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07D7E-5AF3-4293-8446-582A0040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053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799" y="4343379"/>
            <a:ext cx="5486389" cy="41147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931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32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endParaRPr kumimoji="0" sz="132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n-US" sz="1320" b="0" i="0" u="none" strike="noStrike" kern="120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sz="132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0053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kern="0"/>
              <a:pPr>
                <a:buClr>
                  <a:srgbClr val="000000"/>
                </a:buClr>
                <a:buFont typeface="Arial"/>
                <a:buNone/>
              </a:pPr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26900424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4767-452C-DEB4-B7FA-2C43B9BAC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>
            <a:extLst>
              <a:ext uri="{FF2B5EF4-FFF2-40B4-BE49-F238E27FC236}">
                <a16:creationId xmlns:a16="http://schemas.microsoft.com/office/drawing/2014/main" id="{64FBB9AB-EA19-BED0-8834-1E5586AA217D}"/>
              </a:ext>
            </a:extLst>
          </p:cNvPr>
          <p:cNvSpPr/>
          <p:nvPr/>
        </p:nvSpPr>
        <p:spPr>
          <a:xfrm>
            <a:off x="0" y="3291840"/>
            <a:ext cx="2103120" cy="356616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4E71250A-1846-4986-1658-0851CE72EB9E}"/>
              </a:ext>
            </a:extLst>
          </p:cNvPr>
          <p:cNvSpPr/>
          <p:nvPr/>
        </p:nvSpPr>
        <p:spPr>
          <a:xfrm rot="10800000">
            <a:off x="10058400" y="0"/>
            <a:ext cx="2194560" cy="292608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>
            <a:extLst>
              <a:ext uri="{FF2B5EF4-FFF2-40B4-BE49-F238E27FC236}">
                <a16:creationId xmlns:a16="http://schemas.microsoft.com/office/drawing/2014/main" id="{DA1A249E-5D8A-9A76-3B77-82856CCD2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502920"/>
            <a:ext cx="1481924" cy="9601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BF4780-DA3D-01BA-E911-5298F12EAF29}"/>
              </a:ext>
            </a:extLst>
          </p:cNvPr>
          <p:cNvSpPr txBox="1"/>
          <p:nvPr/>
        </p:nvSpPr>
        <p:spPr>
          <a:xfrm>
            <a:off x="1371600" y="1600200"/>
            <a:ext cx="9418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2000" b="1">
                <a:solidFill>
                  <a:srgbClr val="1F6B3B"/>
                </a:solidFill>
                <a:latin typeface="Arial"/>
              </a:rPr>
              <a:t>KESHAV MEMORIAL INSTITUTE OF TECHNOLOGY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5E4FB-D9A1-E5E4-3FC4-23538E15354E}"/>
              </a:ext>
            </a:extLst>
          </p:cNvPr>
          <p:cNvSpPr txBox="1"/>
          <p:nvPr/>
        </p:nvSpPr>
        <p:spPr>
          <a:xfrm>
            <a:off x="1371600" y="2011680"/>
            <a:ext cx="9418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An Autonomous Institution · Accredited by NAAC with 'A' Grade · Narayanaguda, Hyderabad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9A1D67-40F4-D6D6-E40F-7265D1E36B03}"/>
              </a:ext>
            </a:extLst>
          </p:cNvPr>
          <p:cNvSpPr/>
          <p:nvPr/>
        </p:nvSpPr>
        <p:spPr>
          <a:xfrm>
            <a:off x="3840480" y="2697480"/>
            <a:ext cx="4507992" cy="18288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E8781D-0D93-0D99-EF15-9C7198D0D1E0}"/>
              </a:ext>
            </a:extLst>
          </p:cNvPr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3400" b="1">
                <a:solidFill>
                  <a:srgbClr val="05535B"/>
                </a:solidFill>
                <a:latin typeface="Arial"/>
              </a:rPr>
              <a:t>AI-Based Student Engagement &amp;</a:t>
            </a:r>
          </a:p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3400" b="1">
                <a:solidFill>
                  <a:srgbClr val="05535B"/>
                </a:solidFill>
                <a:latin typeface="Arial"/>
              </a:rPr>
              <a:t>Collaboration Detection System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C1416B-4306-CEF1-B2CB-EB3E144D117C}"/>
              </a:ext>
            </a:extLst>
          </p:cNvPr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450" b="0" i="1">
                <a:solidFill>
                  <a:srgbClr val="595959"/>
                </a:solidFill>
                <a:latin typeface="Calibri"/>
              </a:rPr>
              <a:t>Deep Learning with a Swin Transformer — an honest, leakage-controlled study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7F242-49CC-9C4C-F6B0-723655B16295}"/>
              </a:ext>
            </a:extLst>
          </p:cNvPr>
          <p:cNvSpPr txBox="1"/>
          <p:nvPr/>
        </p:nvSpPr>
        <p:spPr>
          <a:xfrm>
            <a:off x="914400" y="507492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Real-Time Research Project (RTRP)  ·  II / II  ·  2026</a:t>
            </a:r>
          </a:p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Md Anas (24BD1A6655)   ·   A. Nikhil (24BD1A6642)   ·   Y. Lohith Reddy (24BD1A66K3)   ·   Boru Tejaswini (24BD1A6646)   ·   Kanak Kabra (24BD1A664T)</a:t>
            </a:r>
          </a:p>
          <a:p>
            <a:pPr algn="ctr"/>
            <a:r>
              <a:rPr sz="1100">
                <a:solidFill>
                  <a:srgbClr val="595959"/>
                </a:solidFill>
                <a:latin typeface="Calibri"/>
              </a:rPr>
              <a:t>Mentor: Ms. Nidhi Srivastav     ·     Domain Head: Ms. P. Sirisha     ·     Group G1033     ·     RTRP II / II  ·  2025-26</a:t>
            </a:r>
          </a:p>
        </p:txBody>
      </p:sp>
    </p:spTree>
    <p:extLst>
      <p:ext uri="{BB962C8B-B14F-4D97-AF65-F5344CB8AC3E}">
        <p14:creationId xmlns:p14="http://schemas.microsoft.com/office/powerpoint/2010/main" val="144934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18187" y="2766004"/>
            <a:ext cx="8755626" cy="164133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KR24_RTRP_II-II_2026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sz="2800" b="1" kern="0" dirty="0">
                <a:solidFill>
                  <a:srgbClr val="4BACC6">
                    <a:lumMod val="75000"/>
                  </a:srgbClr>
                </a:solidFill>
              </a:rPr>
              <a:t>Final</a:t>
            </a: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Review Project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Date: </a:t>
            </a:r>
            <a:r>
              <a:rPr lang="en-US" sz="2000" b="1" kern="0" dirty="0">
                <a:solidFill>
                  <a:srgbClr val="4BACC6">
                    <a:lumMod val="75000"/>
                  </a:srgbClr>
                </a:solidFill>
              </a:rPr>
              <a:t>06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</a:t>
            </a:r>
            <a:r>
              <a:rPr lang="en-US" sz="2000" b="1" kern="0" dirty="0">
                <a:solidFill>
                  <a:srgbClr val="4BACC6">
                    <a:lumMod val="75000"/>
                  </a:srgbClr>
                </a:solidFill>
              </a:rPr>
              <a:t>J</a:t>
            </a: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4BACC6">
                    <a:lumMod val="75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un-2026</a:t>
            </a:r>
            <a:endParaRPr kumimoji="0" lang="en-IN" sz="1800" b="0" i="0" u="none" strike="noStrike" kern="0" cap="none" spc="0" normalizeH="0" baseline="0" noProof="0" dirty="0">
              <a:ln>
                <a:noFill/>
              </a:ln>
              <a:solidFill>
                <a:srgbClr val="4BACC6">
                  <a:lumMod val="75000"/>
                </a:srgb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6811" y="4456329"/>
            <a:ext cx="4839764" cy="227308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Members</a:t>
            </a:r>
          </a:p>
          <a:p>
            <a:pPr marL="457200" indent="-457200" defTabSz="914400">
              <a:buFont typeface="+mj-lt"/>
              <a:buAutoNum type="arabicPeriod"/>
              <a:defRPr/>
            </a:pPr>
            <a:r>
              <a:rPr lang="en-IN" sz="2000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A.Nikhil</a:t>
            </a:r>
            <a:r>
              <a:rPr lang="en-IN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(24bd1a6642)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Md Anas (24bd1a6655)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Y.Lohith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reddy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(24bd1a66k3)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Boru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Tejaswini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(24bd1a6646)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Kanak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kumimoji="0" lang="en-IN" sz="2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Kabra</a:t>
            </a: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(24bd1a664t)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B51CFB20-BF85-80BD-477B-14C7A76949D5}"/>
              </a:ext>
            </a:extLst>
          </p:cNvPr>
          <p:cNvSpPr txBox="1">
            <a:spLocks/>
          </p:cNvSpPr>
          <p:nvPr/>
        </p:nvSpPr>
        <p:spPr>
          <a:xfrm>
            <a:off x="7028383" y="4456330"/>
            <a:ext cx="4610100" cy="22730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IN" sz="2000" b="1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Mentor &amp; Domain Head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 Ms Nidhi Srivastav-Mentor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IN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Ms P. Sirisha-Domain Head</a:t>
            </a:r>
          </a:p>
        </p:txBody>
      </p:sp>
    </p:spTree>
    <p:extLst>
      <p:ext uri="{BB962C8B-B14F-4D97-AF65-F5344CB8AC3E}">
        <p14:creationId xmlns:p14="http://schemas.microsoft.com/office/powerpoint/2010/main" val="2277237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5394960" cy="2695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1.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Abstract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2.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Objective, Domain &amp; Beneficiaries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3.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Stakeholders &amp; Use Cases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4.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Functional &amp; Non-Functional Requirements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5.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Technology Stack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6.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System Architecture</a:t>
            </a:r>
            <a:endParaRPr sz="16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92240" y="1737360"/>
            <a:ext cx="5394960" cy="2695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7.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Design — Data, Workflow &amp; Evaluation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8.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Implementation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9.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Results — Phase 1 &amp; Phase 2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10.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Testing &amp; Validation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11.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Deployment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dirty="0">
                <a:solidFill>
                  <a:srgbClr val="D85A0E"/>
                </a:solidFill>
                <a:latin typeface="Calibri"/>
              </a:rPr>
              <a:t>12.  </a:t>
            </a:r>
            <a:r>
              <a:rPr sz="2000" b="1" dirty="0">
                <a:solidFill>
                  <a:srgbClr val="1A1A1A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Abstract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0515600" cy="1925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This project builds a system that reads a classroom from video to assess two things: </a:t>
            </a:r>
            <a:r>
              <a:rPr sz="1600" b="1" dirty="0">
                <a:solidFill>
                  <a:srgbClr val="05535B"/>
                </a:solidFill>
                <a:latin typeface="Calibri"/>
              </a:rPr>
              <a:t>how engaged each student is</a:t>
            </a:r>
            <a:r>
              <a:rPr sz="1600" b="1" dirty="0">
                <a:solidFill>
                  <a:srgbClr val="1A1A1A"/>
                </a:solidFill>
                <a:latin typeface="Calibri"/>
              </a:rPr>
              <a:t>, and </a:t>
            </a:r>
            <a:r>
              <a:rPr sz="1600" b="1" dirty="0">
                <a:solidFill>
                  <a:srgbClr val="05535B"/>
                </a:solidFill>
                <a:latin typeface="Calibri"/>
              </a:rPr>
              <a:t>whether students are collaborating</a:t>
            </a:r>
            <a:r>
              <a:rPr sz="1600" b="1" dirty="0">
                <a:solidFill>
                  <a:srgbClr val="1A1A1A"/>
                </a:solidFill>
                <a:latin typeface="Calibri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endParaRPr sz="1550" b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b="0" dirty="0">
                <a:solidFill>
                  <a:srgbClr val="1A1A1A"/>
                </a:solidFill>
                <a:latin typeface="Calibri"/>
              </a:rPr>
              <a:t>A Swin-Tiny Transformer with a temporal head (Phase 1) classifies per-student engagement; its frozen features then drive a collaboration model (Phase 2). The defining principle throughout is </a:t>
            </a:r>
            <a:r>
              <a:rPr b="1" dirty="0">
                <a:solidFill>
                  <a:srgbClr val="1A1A1A"/>
                </a:solidFill>
                <a:latin typeface="Calibri"/>
              </a:rPr>
              <a:t>generalization without data leakage</a:t>
            </a:r>
            <a:r>
              <a:rPr b="0" dirty="0">
                <a:solidFill>
                  <a:srgbClr val="1A1A1A"/>
                </a:solidFill>
                <a:latin typeface="Calibri"/>
              </a:rPr>
              <a:t> — every result is measured by holding out entire unseen classrooms (Leave-One-Video-Out).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526280"/>
            <a:ext cx="10469880" cy="1417320"/>
          </a:xfrm>
          <a:prstGeom prst="rect">
            <a:avLst/>
          </a:prstGeom>
          <a:solidFill>
            <a:srgbClr val="E4F0F1"/>
          </a:solidFill>
          <a:ln w="15875">
            <a:solidFill>
              <a:srgbClr val="055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4681728"/>
            <a:ext cx="9966960" cy="1236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 dirty="0">
                <a:solidFill>
                  <a:srgbClr val="05535B"/>
                </a:solidFill>
                <a:latin typeface="Calibri"/>
              </a:rPr>
              <a:t>Outcome — Engagement: held-out TEST macro-F1 0.73 / 76.7% acc (validation 0.90, audited).   Collaboration (group level): signals 0.667 → 0.764 with head-pose / gaze (verified; ≈0.70–0.73 regularized).</a:t>
            </a:r>
            <a:br>
              <a:rPr lang="en-IN" sz="1400" b="1" dirty="0">
                <a:solidFill>
                  <a:srgbClr val="003300"/>
                </a:solidFill>
              </a:rPr>
            </a:br>
            <a:endParaRPr sz="1400" b="1" dirty="0">
              <a:solidFill>
                <a:srgbClr val="003300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300" b="0" i="1" dirty="0">
                <a:solidFill>
                  <a:srgbClr val="595959"/>
                </a:solidFill>
                <a:latin typeface="Calibri"/>
              </a:rPr>
              <a:t>Gaze is a real session-level collaboration signal — collaborative sessions show more mutual gaze (AUC 0.705). Within-scene pair-level remains an honest, documented negative.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 dirty="0">
                <a:solidFill>
                  <a:srgbClr val="E2000F"/>
                </a:solidFill>
                <a:latin typeface="Arial"/>
              </a:rPr>
              <a:t>Objective, Domain &amp; Beneficiaries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10469880" cy="1371600"/>
          </a:xfrm>
          <a:prstGeom prst="rect">
            <a:avLst/>
          </a:prstGeom>
          <a:solidFill>
            <a:srgbClr val="E4F0F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91440" cy="1371600"/>
          </a:xfrm>
          <a:prstGeom prst="rect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1700784"/>
            <a:ext cx="100584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121408"/>
            <a:ext cx="10058400" cy="506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dirty="0">
                <a:solidFill>
                  <a:srgbClr val="595959"/>
                </a:solidFill>
                <a:latin typeface="Calibri"/>
              </a:rPr>
              <a:t>Automatically assess student engagement and collaboration from ordinary classroom video — in a way that transfers to a new, unseen room rather than memorizing the rooms seen in training.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3" y="3063240"/>
            <a:ext cx="5120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3063240"/>
            <a:ext cx="91440" cy="2971800"/>
          </a:xfrm>
          <a:prstGeom prst="rect">
            <a:avLst/>
          </a:prstGeom>
          <a:solidFill>
            <a:srgbClr val="1F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6424" y="3209544"/>
            <a:ext cx="470915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Domain</a:t>
            </a:r>
            <a:endParaRPr sz="145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06424" y="3630168"/>
            <a:ext cx="4709159" cy="1023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dirty="0">
                <a:solidFill>
                  <a:srgbClr val="595959"/>
                </a:solidFill>
                <a:latin typeface="Calibri"/>
              </a:rPr>
              <a:t>Deep Learning · Computer Vision · Educational Technology (EdTech). A core-tech project: video understanding with transformer backbones and honest model evaluation.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063240"/>
            <a:ext cx="51206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3063240"/>
            <a:ext cx="91440" cy="2971800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3209544"/>
            <a:ext cx="470915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dirty="0">
                <a:solidFill>
                  <a:srgbClr val="1A1A1A"/>
                </a:solidFill>
                <a:latin typeface="Calibri"/>
              </a:rPr>
              <a:t>End beneficiaries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630168"/>
            <a:ext cx="4709159" cy="22585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657600"/>
            <a:ext cx="4800600" cy="15905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Teachers / instructors — objective, real-time feedback on class engagement.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Institutions — engagement &amp; collaboration analytics across sessions.</a:t>
            </a:r>
          </a:p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4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Students — better-tuned, more interactive learning environments.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Stakeholders &amp;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241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000" b="1" dirty="0">
                <a:solidFill>
                  <a:srgbClr val="1F7AC4"/>
                </a:solidFill>
                <a:latin typeface="Calibri"/>
              </a:rPr>
              <a:t>Stakeholders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65960"/>
            <a:ext cx="3291840" cy="640080"/>
          </a:xfrm>
          <a:prstGeom prst="rect">
            <a:avLst/>
          </a:prstGeom>
          <a:solidFill>
            <a:srgbClr val="E4F0F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Students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965960"/>
            <a:ext cx="3291840" cy="640080"/>
          </a:xfrm>
          <a:prstGeom prst="rect">
            <a:avLst/>
          </a:prstGeom>
          <a:solidFill>
            <a:srgbClr val="EAF2FB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0" y="19659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Teachers / Instructors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965960"/>
            <a:ext cx="3291840" cy="640080"/>
          </a:xfrm>
          <a:prstGeom prst="rect">
            <a:avLst/>
          </a:prstGeom>
          <a:solidFill>
            <a:srgbClr val="FBEEE3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19659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Institution / 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880360"/>
            <a:ext cx="1042416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F7AC4"/>
                </a:solidFill>
                <a:latin typeface="Calibri"/>
              </a:rPr>
              <a:t>Key use cases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291840"/>
            <a:ext cx="10469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291840"/>
            <a:ext cx="91440" cy="822960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597599"/>
            <a:ext cx="10058400" cy="2480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UC-1  Engagement monitoring </a:t>
            </a:r>
            <a:r>
              <a:rPr sz="1350" b="1" dirty="0">
                <a:solidFill>
                  <a:srgbClr val="1A1A1A"/>
                </a:solidFill>
                <a:latin typeface="Calibri"/>
              </a:rPr>
              <a:t>  </a:t>
            </a:r>
            <a:r>
              <a:rPr sz="1600" dirty="0">
                <a:solidFill>
                  <a:srgbClr val="595959"/>
                </a:solidFill>
                <a:latin typeface="Calibri"/>
              </a:rPr>
              <a:t>Classify each tracked student as Engaged / Not Engaged over short clips.</a:t>
            </a:r>
            <a:endParaRPr sz="125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68680" y="4206240"/>
            <a:ext cx="10469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68680" y="4206240"/>
            <a:ext cx="91440" cy="822960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511999"/>
            <a:ext cx="10058400" cy="2480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UC-2  Collaboration detection</a:t>
            </a:r>
            <a:r>
              <a:rPr sz="1350" b="1" dirty="0">
                <a:solidFill>
                  <a:srgbClr val="1A1A1A"/>
                </a:solidFill>
                <a:latin typeface="Calibri"/>
              </a:rPr>
              <a:t>   </a:t>
            </a:r>
            <a:r>
              <a:rPr sz="1600" b="0" dirty="0">
                <a:solidFill>
                  <a:srgbClr val="595959"/>
                </a:solidFill>
                <a:latin typeface="Calibri"/>
              </a:rPr>
              <a:t>Judge whether a session's group is collaborative, from per-pair interaction statistics.</a:t>
            </a:r>
            <a:endParaRPr sz="1250" b="0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68680" y="5120640"/>
            <a:ext cx="104698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68680" y="5120640"/>
            <a:ext cx="91440" cy="822960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426399"/>
            <a:ext cx="10058400" cy="2480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UC-3  Class analytics   </a:t>
            </a:r>
            <a:r>
              <a:rPr sz="1600" b="0" dirty="0">
                <a:solidFill>
                  <a:srgbClr val="595959"/>
                </a:solidFill>
                <a:latin typeface="Calibri"/>
              </a:rPr>
              <a:t>Aggregate per-student and per-session results into a class-level summary.</a:t>
            </a:r>
            <a:endParaRPr sz="1250" b="0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Functional &amp; Non-Functional Requirements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91440" cy="4480560"/>
          </a:xfrm>
          <a:prstGeom prst="rect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170078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121408"/>
            <a:ext cx="4709159" cy="376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48840"/>
            <a:ext cx="4709160" cy="2160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Ingest classroom video and sample frames.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Detect and track each student (stable IDs).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Classify per-student engagement (Engaged / Not).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Compute per-pair interaction signals.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Classify group collaboration per session.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Output verdicts &amp; class-level analytics.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91440" cy="4480560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55664" y="170078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Non-functional requirements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2121408"/>
            <a:ext cx="4709159" cy="376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148840"/>
            <a:ext cx="4709160" cy="20447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Generalization — zero scene/data leakage (LOVO).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Robustness to lighting, pose and noise.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Reproducibility — deterministic, re-verifiable runs.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Efficiency — trains on a single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Colab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GPU; </a:t>
            </a:r>
            <a:r>
              <a:rPr sz="1600" b="0" dirty="0" err="1">
                <a:solidFill>
                  <a:srgbClr val="1A1A1A"/>
                </a:solidFill>
                <a:latin typeface="Calibri"/>
              </a:rPr>
              <a:t>numpy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 inference.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600" b="1" dirty="0">
                <a:solidFill>
                  <a:srgbClr val="05535B"/>
                </a:solidFill>
                <a:latin typeface="Calibri"/>
              </a:rPr>
              <a:t>•  </a:t>
            </a:r>
            <a:r>
              <a:rPr sz="1600" b="0" dirty="0">
                <a:solidFill>
                  <a:srgbClr val="1A1A1A"/>
                </a:solidFill>
                <a:latin typeface="Calibri"/>
              </a:rPr>
              <a:t>Honesty — every metric backed by a shuffle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2971800" cy="566928"/>
          </a:xfrm>
          <a:prstGeom prst="rect">
            <a:avLst/>
          </a:prstGeom>
          <a:solidFill>
            <a:srgbClr val="EAF2FB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30222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1400" b="1" dirty="0">
                <a:solidFill>
                  <a:srgbClr val="1F7AC4"/>
                </a:solidFill>
                <a:latin typeface="Calibri"/>
              </a:rPr>
              <a:t>F</a:t>
            </a:r>
            <a:r>
              <a:rPr lang="en-IN" sz="1400" b="1" dirty="0" err="1">
                <a:solidFill>
                  <a:srgbClr val="1F7AC4"/>
                </a:solidFill>
                <a:latin typeface="Calibri"/>
              </a:rPr>
              <a:t>rontend</a:t>
            </a:r>
            <a:endParaRPr sz="1400" b="1" dirty="0">
              <a:solidFill>
                <a:srgbClr val="1F7AC4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840480" y="1554480"/>
            <a:ext cx="74980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60" y="1699445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lang="en-US" dirty="0"/>
              <a:t>Next.js 14 (React + TypeScript), </a:t>
            </a:r>
            <a:r>
              <a:rPr lang="en-US" dirty="0" err="1"/>
              <a:t>TailwindCSS</a:t>
            </a:r>
            <a:r>
              <a:rPr lang="en-US" dirty="0"/>
              <a:t>, Framer Motion, Recharts / D3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212848"/>
            <a:ext cx="2971800" cy="566928"/>
          </a:xfrm>
          <a:prstGeom prst="rect">
            <a:avLst/>
          </a:prstGeom>
          <a:solidFill>
            <a:srgbClr val="EAF2FB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388590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1400" b="1" dirty="0">
                <a:solidFill>
                  <a:srgbClr val="1F7AC4"/>
                </a:solidFill>
                <a:latin typeface="Calibri"/>
              </a:rPr>
              <a:t>Model</a:t>
            </a:r>
            <a:endParaRPr sz="1250" b="1" dirty="0">
              <a:solidFill>
                <a:srgbClr val="1F7AC4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840480" y="2212848"/>
            <a:ext cx="74980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23360" y="2250091"/>
            <a:ext cx="722376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Swin-Tiny</a:t>
            </a:r>
            <a:r>
              <a:rPr lang="en-US" sz="1600" b="1" dirty="0">
                <a:solidFill>
                  <a:srgbClr val="1A1A1A"/>
                </a:solidFill>
                <a:latin typeface="Calibri"/>
              </a:rPr>
              <a:t> Backbone</a:t>
            </a:r>
            <a:r>
              <a:rPr sz="1600" b="1" dirty="0">
                <a:solidFill>
                  <a:srgbClr val="1A1A1A"/>
                </a:solidFill>
                <a:latin typeface="Calibri"/>
              </a:rPr>
              <a:t> (</a:t>
            </a:r>
            <a:r>
              <a:rPr sz="1600" b="1" dirty="0" err="1">
                <a:solidFill>
                  <a:srgbClr val="1A1A1A"/>
                </a:solidFill>
                <a:latin typeface="Calibri"/>
              </a:rPr>
              <a:t>timm</a:t>
            </a:r>
            <a:r>
              <a:rPr sz="1600" b="1" dirty="0">
                <a:solidFill>
                  <a:srgbClr val="1A1A1A"/>
                </a:solidFill>
                <a:latin typeface="Calibri"/>
              </a:rPr>
              <a:t>) + custom Temporal Transformer  →  768-d clip feature</a:t>
            </a:r>
            <a:r>
              <a:rPr lang="en-US" sz="1600" b="1" dirty="0">
                <a:solidFill>
                  <a:srgbClr val="1A1A1A"/>
                </a:solidFill>
                <a:latin typeface="Calibri"/>
              </a:rPr>
              <a:t>  + </a:t>
            </a:r>
            <a:r>
              <a:rPr lang="en-IN" sz="1600" b="1" dirty="0" err="1">
                <a:solidFill>
                  <a:srgbClr val="1A1A1A"/>
                </a:solidFill>
              </a:rPr>
              <a:t>PyTorch</a:t>
            </a:r>
            <a:r>
              <a:rPr lang="en-US" sz="1600" b="1" dirty="0">
                <a:solidFill>
                  <a:srgbClr val="1A1A1A"/>
                </a:solidFill>
                <a:latin typeface="Calibri"/>
              </a:rPr>
              <a:t> </a:t>
            </a:r>
            <a:endParaRPr sz="160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8680" y="2871215"/>
            <a:ext cx="2971800" cy="566928"/>
          </a:xfrm>
          <a:prstGeom prst="rect">
            <a:avLst/>
          </a:prstGeom>
          <a:solidFill>
            <a:srgbClr val="EAF2FB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046957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dirty="0">
                <a:solidFill>
                  <a:srgbClr val="1F7AC4"/>
                </a:solidFill>
                <a:latin typeface="Calibri"/>
              </a:rPr>
              <a:t>Detection / 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0" y="2871215"/>
            <a:ext cx="74980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60" y="3016180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lang="en-US" dirty="0" err="1"/>
              <a:t>Ultralytics</a:t>
            </a:r>
            <a:r>
              <a:rPr lang="en-US" dirty="0"/>
              <a:t> YOLOv8n </a:t>
            </a:r>
            <a:r>
              <a:rPr sz="1400" b="0" dirty="0">
                <a:solidFill>
                  <a:srgbClr val="1A1A1A"/>
                </a:solidFill>
                <a:latin typeface="Calibri"/>
              </a:rPr>
              <a:t>+ </a:t>
            </a:r>
            <a:r>
              <a:rPr lang="en-US" dirty="0" err="1"/>
              <a:t>ByteTrack</a:t>
            </a:r>
            <a:r>
              <a:rPr lang="en-US" dirty="0"/>
              <a:t>, OpenCV, </a:t>
            </a:r>
            <a:r>
              <a:rPr lang="en-US" dirty="0" err="1"/>
              <a:t>InsightFace</a:t>
            </a:r>
            <a:r>
              <a:rPr lang="en-US" dirty="0"/>
              <a:t> / </a:t>
            </a:r>
            <a:r>
              <a:rPr lang="en-US" dirty="0" err="1"/>
              <a:t>SixDRepNet</a:t>
            </a:r>
            <a:endParaRPr sz="14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8680" y="3529584"/>
            <a:ext cx="2971800" cy="566928"/>
          </a:xfrm>
          <a:prstGeom prst="rect">
            <a:avLst/>
          </a:prstGeom>
          <a:solidFill>
            <a:srgbClr val="EAF2FB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3705326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00" b="1" dirty="0">
                <a:solidFill>
                  <a:srgbClr val="1F7AC4"/>
                </a:solidFill>
                <a:latin typeface="Calibri"/>
              </a:rPr>
              <a:t>Libraries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529584"/>
            <a:ext cx="74980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23360" y="3674549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0" dirty="0">
                <a:solidFill>
                  <a:srgbClr val="1A1A1A"/>
                </a:solidFill>
                <a:latin typeface="Calibri"/>
              </a:rPr>
              <a:t>OpenCV · NumPy</a:t>
            </a:r>
            <a:r>
              <a:rPr lang="en-US" b="0" dirty="0">
                <a:solidFill>
                  <a:srgbClr val="1A1A1A"/>
                </a:solidFill>
                <a:latin typeface="Calibri"/>
              </a:rPr>
              <a:t>, Python</a:t>
            </a:r>
            <a:endParaRPr sz="14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68680" y="4187952"/>
            <a:ext cx="2971800" cy="566928"/>
          </a:xfrm>
          <a:prstGeom prst="rect">
            <a:avLst/>
          </a:prstGeom>
          <a:solidFill>
            <a:srgbClr val="EAF2FB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363694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lang="en-US" sz="1400" b="1" dirty="0">
                <a:solidFill>
                  <a:srgbClr val="1F7AC4"/>
                </a:solidFill>
                <a:latin typeface="Calibri"/>
              </a:rPr>
              <a:t>Backend</a:t>
            </a:r>
            <a:endParaRPr sz="1400" b="1" dirty="0">
              <a:solidFill>
                <a:srgbClr val="1F7AC4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840480" y="4187952"/>
            <a:ext cx="7498079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23360" y="4332917"/>
            <a:ext cx="72237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500"/>
              </a:spcAft>
            </a:pP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dirty="0" err="1"/>
              <a:t>Pydantic</a:t>
            </a:r>
            <a:r>
              <a:rPr lang="en-US" dirty="0"/>
              <a:t>, </a:t>
            </a:r>
            <a:r>
              <a:rPr lang="en-US" dirty="0" err="1"/>
              <a:t>Uvicorn</a:t>
            </a:r>
            <a:r>
              <a:rPr lang="en-US" dirty="0"/>
              <a:t>, SQLite (WAL), NumPy</a:t>
            </a:r>
            <a:endParaRPr sz="1400" b="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68680" y="4983480"/>
            <a:ext cx="10469880" cy="960120"/>
          </a:xfrm>
          <a:prstGeom prst="rect">
            <a:avLst/>
          </a:prstGeom>
          <a:solidFill>
            <a:srgbClr val="FBEEE3"/>
          </a:solidFill>
          <a:ln w="12700">
            <a:solidFill>
              <a:srgbClr val="D85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12064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D85A0E"/>
                </a:solidFill>
                <a:latin typeface="Calibri"/>
              </a:rPr>
              <a:t>Alternatives considered  </a:t>
            </a:r>
            <a:r>
              <a:rPr sz="1250" b="0">
                <a:solidFill>
                  <a:srgbClr val="1A1A1A"/>
                </a:solidFill>
                <a:latin typeface="Calibri"/>
              </a:rPr>
              <a:t>— ResNet/CNN vs Swin (chose Swin for global self-attention); frame-level vs temporal modelling (chose temporal);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ImageNet / DINOv2 features for collaboration (tested). Choices were validated empirically, not assumed.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 dirty="0">
                <a:solidFill>
                  <a:srgbClr val="E2000F"/>
                </a:solidFill>
                <a:latin typeface="Arial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828800"/>
            <a:ext cx="2331720" cy="1371600"/>
          </a:xfrm>
          <a:prstGeom prst="rect">
            <a:avLst/>
          </a:prstGeom>
          <a:solidFill>
            <a:srgbClr val="EAF2FB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331720" cy="1371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Classroom</a:t>
            </a:r>
          </a:p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video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236976" y="2350008"/>
            <a:ext cx="338328" cy="329184"/>
          </a:xfrm>
          <a:prstGeom prst="rightArrow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11880" y="1828800"/>
            <a:ext cx="2331720" cy="1371600"/>
          </a:xfrm>
          <a:prstGeom prst="rect">
            <a:avLst/>
          </a:prstGeom>
          <a:solidFill>
            <a:srgbClr val="EAF2FB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1828800"/>
            <a:ext cx="2331720" cy="1371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YOLOv8</a:t>
            </a:r>
          </a:p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detect + track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80176" y="2350008"/>
            <a:ext cx="338328" cy="329184"/>
          </a:xfrm>
          <a:prstGeom prst="rightArrow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55080" y="1828800"/>
            <a:ext cx="2331720" cy="1371600"/>
          </a:xfrm>
          <a:prstGeom prst="rect">
            <a:avLst/>
          </a:prstGeom>
          <a:solidFill>
            <a:srgbClr val="EAF2FB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331720" cy="1371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1250" b="1" dirty="0">
                <a:solidFill>
                  <a:srgbClr val="1A1A1A"/>
                </a:solidFill>
                <a:latin typeface="Calibri"/>
              </a:rPr>
              <a:t>Per-person</a:t>
            </a:r>
          </a:p>
          <a:p>
            <a:pPr algn="ctr"/>
            <a:r>
              <a:rPr sz="1250" b="1" dirty="0">
                <a:solidFill>
                  <a:srgbClr val="1A1A1A"/>
                </a:solidFill>
                <a:latin typeface="Calibri"/>
              </a:rPr>
              <a:t>clips (8 frames)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723376" y="2350008"/>
            <a:ext cx="338328" cy="329184"/>
          </a:xfrm>
          <a:prstGeom prst="rightArrow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98280" y="1828800"/>
            <a:ext cx="2331720" cy="1371600"/>
          </a:xfrm>
          <a:prstGeom prst="rect">
            <a:avLst/>
          </a:prstGeom>
          <a:solidFill>
            <a:srgbClr val="E4F0F1"/>
          </a:solidFill>
          <a:ln w="15875">
            <a:solidFill>
              <a:srgbClr val="055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98280" y="1828800"/>
            <a:ext cx="2331720" cy="1371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Swin-Tiny +</a:t>
            </a:r>
          </a:p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Temporal Transf.</a:t>
            </a:r>
          </a:p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768-d feature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3886200"/>
            <a:ext cx="3291840" cy="1051560"/>
          </a:xfrm>
          <a:prstGeom prst="rect">
            <a:avLst/>
          </a:prstGeom>
          <a:solidFill>
            <a:srgbClr val="E4F0F1"/>
          </a:solidFill>
          <a:ln w="15875">
            <a:solidFill>
              <a:srgbClr val="055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77440" y="40233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Engagement head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Phase 1 · Engaged vs Not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3886200"/>
            <a:ext cx="3291840" cy="1051560"/>
          </a:xfrm>
          <a:prstGeom prst="rect">
            <a:avLst/>
          </a:prstGeom>
          <a:solidFill>
            <a:srgbClr val="FBEEE3"/>
          </a:solidFill>
          <a:ln w="15875">
            <a:solidFill>
              <a:srgbClr val="D85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402336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350" b="1">
                <a:solidFill>
                  <a:srgbClr val="1A1A1A"/>
                </a:solidFill>
                <a:latin typeface="Calibri"/>
              </a:rPr>
              <a:t>Group-Collaboration head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50" b="0">
                <a:solidFill>
                  <a:srgbClr val="595959"/>
                </a:solidFill>
                <a:latin typeface="Calibri"/>
              </a:rPr>
              <a:t>Phase 2 · session verdict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12080"/>
            <a:ext cx="10469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The Swin backbone is fully frozen for Phase 2 (34.8M params). Read-outs are deliberately small — with only ~30 sessions, a heavy head would memorize rooms instead of generalizing.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D0F0CA-39A5-66E8-C6D3-32A7F8F30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62" y="470517"/>
            <a:ext cx="11389223" cy="581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090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Design — Data, Workflow &amp;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512064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91440" cy="1920240"/>
          </a:xfrm>
          <a:prstGeom prst="rect">
            <a:avLst/>
          </a:prstGeom>
          <a:solidFill>
            <a:srgbClr val="1F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1700784"/>
            <a:ext cx="47091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121408"/>
            <a:ext cx="4709159" cy="1186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lang="en-US" sz="1400" dirty="0" err="1">
                <a:solidFill>
                  <a:srgbClr val="595959"/>
                </a:solidFill>
                <a:latin typeface="Calibri"/>
              </a:rPr>
              <a:t>EduAction</a:t>
            </a:r>
            <a:r>
              <a:rPr lang="en-US" sz="1400" dirty="0">
                <a:solidFill>
                  <a:srgbClr val="595959"/>
                </a:solidFill>
                <a:latin typeface="Calibri"/>
              </a:rPr>
              <a:t> dataset clips + </a:t>
            </a:r>
            <a:r>
              <a:rPr lang="en-US" sz="1400" b="0" dirty="0">
                <a:solidFill>
                  <a:srgbClr val="595959"/>
                </a:solidFill>
                <a:latin typeface="Calibri"/>
              </a:rPr>
              <a:t>30 custom videos for engagement (Phase 1).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0" dirty="0">
                <a:solidFill>
                  <a:srgbClr val="595959"/>
                </a:solidFill>
                <a:latin typeface="Calibri"/>
              </a:rPr>
              <a:t>33 custom classroom videos → 883 unique student pairs (452 collaborative / 431 not). Per-person clips, cached as 768-d features.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611880"/>
            <a:ext cx="51206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3611880"/>
            <a:ext cx="91440" cy="2423160"/>
          </a:xfrm>
          <a:prstGeom prst="rect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6424" y="3758184"/>
            <a:ext cx="470915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450" b="1">
                <a:solidFill>
                  <a:srgbClr val="1A1A1A"/>
                </a:solidFill>
                <a:latin typeface="Calibri"/>
              </a:rPr>
              <a:t>Data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4178808"/>
            <a:ext cx="4709159" cy="1709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00" b="0">
                <a:solidFill>
                  <a:srgbClr val="595959"/>
                </a:solidFill>
                <a:latin typeface="Calibri"/>
              </a:rPr>
              <a:t>video → detect &amp; track → per-person clip features (.npy cache) → de-duplicated unique-pair dataset (.npz) → engagement &amp; collaboration models.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120640" cy="4480560"/>
          </a:xfrm>
          <a:prstGeom prst="rect">
            <a:avLst/>
          </a:prstGeom>
          <a:solidFill>
            <a:srgbClr val="FBEAEA"/>
          </a:solidFill>
          <a:ln w="15875">
            <a:solidFill>
              <a:srgbClr val="E2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737360"/>
            <a:ext cx="4709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500" b="1">
                <a:solidFill>
                  <a:srgbClr val="E2000F"/>
                </a:solidFill>
                <a:latin typeface="Calibri"/>
              </a:rPr>
              <a:t>The core design decision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4709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Collaboration here is ~83–90% explained by which video a pair is in — the </a:t>
            </a:r>
            <a:r>
              <a:rPr sz="1250" b="1">
                <a:solidFill>
                  <a:srgbClr val="1A1A1A"/>
                </a:solidFill>
                <a:latin typeface="Calibri"/>
              </a:rPr>
              <a:t>scene confound</a:t>
            </a:r>
            <a:r>
              <a:rPr sz="1250" b="0">
                <a:solidFill>
                  <a:srgbClr val="1A1A1A"/>
                </a:solidFill>
                <a:latin typeface="Calibri"/>
              </a:rPr>
              <a:t>. Any split that lets one room appear in train and test measures room recognition, not collaboration.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794760"/>
            <a:ext cx="47091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50" b="0">
                <a:solidFill>
                  <a:srgbClr val="1A1A1A"/>
                </a:solidFill>
                <a:latin typeface="Calibri"/>
              </a:rPr>
              <a:t>So the evaluation is </a:t>
            </a:r>
            <a:r>
              <a:rPr sz="1250" b="1">
                <a:solidFill>
                  <a:srgbClr val="E2000F"/>
                </a:solidFill>
                <a:latin typeface="Calibri"/>
              </a:rPr>
              <a:t>Leave-One-Video-Out</a:t>
            </a:r>
            <a:r>
              <a:rPr sz="1250" b="0">
                <a:solidFill>
                  <a:srgbClr val="1A1A1A"/>
                </a:solidFill>
                <a:latin typeface="Calibri"/>
              </a:rPr>
              <a:t>: hold out an entire room each fold, train on the rest, predict the held-out room — the scene can never leak.</a:t>
            </a: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endParaRPr sz="1250" b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14000"/>
              </a:lnSpc>
              <a:spcAft>
                <a:spcPts val="400"/>
              </a:spcAft>
            </a:pPr>
            <a:r>
              <a:rPr sz="1250" b="0" i="1">
                <a:solidFill>
                  <a:srgbClr val="595959"/>
                </a:solidFill>
                <a:latin typeface="Calibri"/>
              </a:rPr>
              <a:t>Every reported number is paired with a label-shuffle floor as a chance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5120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91440" cy="2148840"/>
          </a:xfrm>
          <a:prstGeom prst="rect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170078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Phase 1 —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121408"/>
            <a:ext cx="4709159" cy="1023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dirty="0">
                <a:solidFill>
                  <a:srgbClr val="595959"/>
                </a:solidFill>
                <a:latin typeface="Calibri"/>
              </a:rPr>
              <a:t>Swin-Tiny clip model trained bootstrap → align → calibrate; best generalization from minimal temporal training on ImageNet features. Frozen and reused as the Phase-2 backbone.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84048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68680" y="3840480"/>
            <a:ext cx="91440" cy="2194560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06424" y="398678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Phase 2 —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4407408"/>
            <a:ext cx="4709159" cy="1023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dirty="0">
                <a:solidFill>
                  <a:srgbClr val="595959"/>
                </a:solidFill>
                <a:latin typeface="Calibri"/>
              </a:rPr>
              <a:t>Frozen backbone → per-pair relational signals + feature scalars → small group head (20-d), trained and evaluated under LOVO. Per-pair reasoning is aggregated into the group verdict.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5120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91440" cy="2148840"/>
          </a:xfrm>
          <a:prstGeom prst="rect">
            <a:avLst/>
          </a:prstGeom>
          <a:solidFill>
            <a:srgbClr val="1F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55664" y="170078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Engineering highlights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2121408"/>
            <a:ext cx="4709159" cy="10236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dirty="0">
                <a:solidFill>
                  <a:srgbClr val="595959"/>
                </a:solidFill>
                <a:latin typeface="Calibri"/>
              </a:rPr>
              <a:t>Genuine per-person feature extraction; unique-pair de-duplication; an honest LOVO trainer with built-in shuffle &amp; per-video validation gates; a separate geometry re-detection branch.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1206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91440" cy="2194560"/>
          </a:xfrm>
          <a:prstGeom prst="rect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398678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Coding considerations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407408"/>
            <a:ext cx="4709159" cy="765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0" dirty="0">
                <a:solidFill>
                  <a:srgbClr val="595959"/>
                </a:solidFill>
                <a:latin typeface="Calibri"/>
              </a:rPr>
              <a:t>Leakage checks at every step; deploy == train feature parity (the same signal function runs live and in training); deterministic, dependency-free </a:t>
            </a:r>
            <a:r>
              <a:rPr sz="1600" b="0" dirty="0" err="1">
                <a:solidFill>
                  <a:srgbClr val="595959"/>
                </a:solidFill>
                <a:latin typeface="Calibri"/>
              </a:rPr>
              <a:t>numpy</a:t>
            </a:r>
            <a:r>
              <a:rPr sz="1600" b="0" dirty="0">
                <a:solidFill>
                  <a:srgbClr val="595959"/>
                </a:solidFill>
                <a:latin typeface="Calibri"/>
              </a:rPr>
              <a:t> inference.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Results — Phase 1 · Engagement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4000" b="1">
                <a:solidFill>
                  <a:srgbClr val="05535B"/>
                </a:solidFill>
                <a:latin typeface="Arial"/>
              </a:rPr>
              <a:t>0.73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8716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595959"/>
                </a:solidFill>
                <a:latin typeface="Calibri"/>
              </a:rPr>
              <a:t>macro-F1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4000" b="1">
                <a:solidFill>
                  <a:srgbClr val="1A1A1A"/>
                </a:solidFill>
                <a:latin typeface="Arial"/>
              </a:rPr>
              <a:t>76.7%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8716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595959"/>
                </a:solidFill>
                <a:latin typeface="Calibri"/>
              </a:rPr>
              <a:t>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737360"/>
            <a:ext cx="30175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4000" b="1">
                <a:solidFill>
                  <a:srgbClr val="D85A0E"/>
                </a:solidFill>
                <a:latin typeface="Arial"/>
              </a:rPr>
              <a:t>0.64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487168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50" b="1">
                <a:solidFill>
                  <a:srgbClr val="595959"/>
                </a:solidFill>
                <a:latin typeface="Calibri"/>
              </a:rPr>
              <a:t>Not-Engaged F1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914400" y="3383280"/>
          <a:ext cx="51206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3474720"/>
            <a:ext cx="4846320" cy="16729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600" b="1" dirty="0">
                <a:solidFill>
                  <a:srgbClr val="595959"/>
                </a:solidFill>
                <a:latin typeface="Calibri"/>
              </a:rPr>
              <a:t>Per-class F1 on the held-out TEST.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300" b="0" dirty="0">
                <a:solidFill>
                  <a:srgbClr val="1A1A1A"/>
                </a:solidFill>
                <a:latin typeface="Calibri"/>
              </a:rPr>
              <a:t>Honest number = held-out TEST on 5 unseen classrooms (video-level split): macro-F1 0.73 / 76.7% acc. Validation 0.90 / 92.4% was the epoch + 0.75-threshold selection set (audited).</a:t>
            </a: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b="0"/>
              <a:t>Frozen and reused as the Phase-2 feature backbone — no Phase-1 weights updated.</a:t>
            </a:r>
            <a:endParaRPr sz="1300" b="0" dirty="0">
              <a:solidFill>
                <a:srgbClr val="1A1A1A"/>
              </a:solidFill>
              <a:latin typeface="Calibri"/>
            </a:endParaRPr>
          </a:p>
          <a:p>
            <a:pPr algn="l">
              <a:lnSpc>
                <a:spcPct val="114000"/>
              </a:lnSpc>
              <a:spcAft>
                <a:spcPts val="600"/>
              </a:spcAft>
            </a:pPr>
            <a:endParaRPr sz="1300" b="0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Results — Phase 2 · Collaboration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600200"/>
            <a:ext cx="3063240" cy="2057400"/>
          </a:xfrm>
          <a:prstGeom prst="rect">
            <a:avLst/>
          </a:prstGeom>
          <a:solidFill>
            <a:srgbClr val="E4F0F1"/>
          </a:solidFill>
          <a:ln w="19050">
            <a:solidFill>
              <a:srgbClr val="055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4600" b="1">
                <a:solidFill>
                  <a:srgbClr val="05535B"/>
                </a:solidFill>
                <a:latin typeface="Arial"/>
              </a:rPr>
              <a:t>0.764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3063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250" b="1">
                <a:solidFill>
                  <a:srgbClr val="1A1A1A"/>
                </a:solidFill>
                <a:latin typeface="Calibri"/>
              </a:rPr>
              <a:t>macro-F1 (LOVO)</a:t>
            </a:r>
          </a:p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100" b="0">
                <a:solidFill>
                  <a:srgbClr val="595959"/>
                </a:solidFill>
                <a:latin typeface="Calibri"/>
              </a:rPr>
              <a:t>76.4% · vs 0.667 signals · 95% CI [.60–.90]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114800" y="1600200"/>
          <a:ext cx="73152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0" y="4069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100" b="0" i="1">
                <a:solidFill>
                  <a:srgbClr val="595959"/>
                </a:solidFill>
                <a:latin typeface="Calibri"/>
              </a:rPr>
              <a:t>Session-level: signals 0.667 → signals + gaze 0.764 (verified; mutual-gaze AUC 0.705).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572000"/>
            <a:ext cx="104698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68680" y="4572000"/>
            <a:ext cx="91440" cy="1371600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709160"/>
            <a:ext cx="10058400" cy="742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lang="en-IN" sz="1400" b="1" dirty="0">
                <a:solidFill>
                  <a:srgbClr val="006600"/>
                </a:solidFill>
              </a:rPr>
              <a:t>Coverage-confound analysis did not explain the gain. Mutual gaze emerged as the strongest collaboration signal (collaborative sessions: 0.34 vs 0.22, AUC 0.705). </a:t>
            </a:r>
            <a:r>
              <a:rPr sz="1350" b="1" dirty="0">
                <a:solidFill>
                  <a:srgbClr val="006600"/>
                </a:solidFill>
                <a:latin typeface="Calibri"/>
              </a:rPr>
              <a:t>Regularized ≈ 0.70–0.73; 95% bootstrap CI [0.60, 0.90].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200" b="0" i="1" dirty="0">
                <a:solidFill>
                  <a:srgbClr val="595959"/>
                </a:solidFill>
                <a:latin typeface="Calibri"/>
              </a:rPr>
              <a:t>Within-scene pair-level (next slide) remains an honest negative — kept separate from this session-level claim.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Pair-Level — Honest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10469880" cy="53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Can we tell apart a collaborating pair and a non-collaborating pair inside the same room?  We tested four independent signal families before concluding.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331720"/>
            <a:ext cx="24841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055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2450592"/>
            <a:ext cx="2118360" cy="539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1 · Appearance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595959"/>
                </a:solidFill>
                <a:latin typeface="Calibri"/>
              </a:rPr>
              <a:t>Per-person Swin features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43300" y="2331720"/>
            <a:ext cx="24841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1F7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26180" y="2450592"/>
            <a:ext cx="2118360" cy="765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2 · Relational signals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595959"/>
                </a:solidFill>
                <a:latin typeface="Calibri"/>
              </a:rPr>
              <a:t>Turn-taking, trajectory, joint activity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331720"/>
            <a:ext cx="24841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D85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2450592"/>
            <a:ext cx="2118360" cy="765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3 · Geometry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595959"/>
                </a:solidFill>
                <a:latin typeface="Calibri"/>
              </a:rPr>
              <a:t>Proximity, orientation, co-movement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611880"/>
            <a:ext cx="5074920" cy="2331720"/>
          </a:xfrm>
          <a:prstGeom prst="rect">
            <a:avLst/>
          </a:prstGeom>
          <a:solidFill>
            <a:srgbClr val="FBEAEA"/>
          </a:solidFill>
          <a:ln w="15875">
            <a:solidFill>
              <a:srgbClr val="E200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767328"/>
            <a:ext cx="4663440" cy="1657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b="1" dirty="0">
                <a:solidFill>
                  <a:srgbClr val="E2000F"/>
                </a:solidFill>
                <a:latin typeface="Calibri"/>
              </a:rPr>
              <a:t>First three families: flat at chance.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Per-video median macro-F1 ≈ 0.40 for appearance, relational and geometry — equal to the 0.41 shuffle floor.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Gaze (4th, the strongest test) lifts the balanced room VID-4 0.56 → 0.60 — but its per-video median 0.42 ≈ the floor: real on one scene, not generalizing.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611880"/>
            <a:ext cx="5166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767328"/>
            <a:ext cx="4754880" cy="1903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b="1" dirty="0">
                <a:solidFill>
                  <a:srgbClr val="1F7AC4"/>
                </a:solidFill>
                <a:latin typeface="Calibri"/>
              </a:rPr>
              <a:t>Why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Two students at a shared desk look geometrically identical whether collaborating or not. Gaze is the right cue — turn-taking and who-looks-at-whom were the strongest features — but with one balanced room it cannot be shown to generalize. The limit is data, not the idea.</a:t>
            </a:r>
          </a:p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400" b="1" i="1" dirty="0">
                <a:solidFill>
                  <a:srgbClr val="595959"/>
                </a:solidFill>
                <a:latin typeface="Calibri"/>
              </a:rPr>
              <a:t>→ Honestly ruled out, not overclaimed.</a:t>
            </a:r>
          </a:p>
        </p:txBody>
      </p:sp>
      <p:sp>
        <p:nvSpPr>
          <p:cNvPr id="90" name="Rectangle Gaze"/>
          <p:cNvSpPr/>
          <p:nvPr/>
        </p:nvSpPr>
        <p:spPr>
          <a:xfrm>
            <a:off x="8892540" y="2331720"/>
            <a:ext cx="2484120" cy="1051560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Gaze"/>
          <p:cNvSpPr txBox="1"/>
          <p:nvPr/>
        </p:nvSpPr>
        <p:spPr>
          <a:xfrm>
            <a:off x="9075420" y="2450592"/>
            <a:ext cx="2118360" cy="7659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600" b="1" dirty="0">
                <a:solidFill>
                  <a:srgbClr val="1A1A1A"/>
                </a:solidFill>
                <a:latin typeface="Calibri"/>
              </a:rPr>
              <a:t>4 · Gaze / head-pose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595959"/>
                </a:solidFill>
                <a:latin typeface="Calibri"/>
              </a:rPr>
              <a:t>Mutual gaze, who-looks-at-whom</a:t>
            </a:r>
            <a:endParaRPr sz="1150" b="1" dirty="0">
              <a:solidFill>
                <a:srgbClr val="59595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Testing &amp;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45920"/>
            <a:ext cx="10332720" cy="1474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600" b="1" dirty="0">
                <a:solidFill>
                  <a:srgbClr val="1F7AC4"/>
                </a:solidFill>
                <a:latin typeface="Calibri"/>
              </a:rPr>
              <a:t>LOVO cross-validation </a:t>
            </a:r>
            <a:r>
              <a:rPr sz="1400" b="1" dirty="0">
                <a:solidFill>
                  <a:srgbClr val="1F7AC4"/>
                </a:solidFill>
                <a:latin typeface="Calibri"/>
              </a:rPr>
              <a:t>— </a:t>
            </a:r>
            <a:r>
              <a:rPr sz="1400" b="1" dirty="0">
                <a:solidFill>
                  <a:srgbClr val="1A1A1A"/>
                </a:solidFill>
                <a:latin typeface="Calibri"/>
              </a:rPr>
              <a:t>33 folds, one entire room held out per fold; the headline numbers are these held-out scores.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600" b="1" dirty="0">
                <a:solidFill>
                  <a:srgbClr val="1F7AC4"/>
                </a:solidFill>
                <a:latin typeface="Calibri"/>
              </a:rPr>
              <a:t>Label-shuffle floors </a:t>
            </a:r>
            <a:r>
              <a:rPr sz="1400" b="1" dirty="0">
                <a:solidFill>
                  <a:srgbClr val="1F7AC4"/>
                </a:solidFill>
                <a:latin typeface="Calibri"/>
              </a:rPr>
              <a:t>— </a:t>
            </a:r>
            <a:r>
              <a:rPr sz="1400" b="1" dirty="0">
                <a:solidFill>
                  <a:srgbClr val="1A1A1A"/>
                </a:solidFill>
                <a:latin typeface="Calibri"/>
              </a:rPr>
              <a:t>every claim is checked against its own shuffled-label version; if it doesn't clearly beat chance, it isn't reported.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600" b="1" dirty="0">
                <a:solidFill>
                  <a:srgbClr val="1F7AC4"/>
                </a:solidFill>
                <a:latin typeface="Calibri"/>
              </a:rPr>
              <a:t>Per-video breakdown </a:t>
            </a:r>
            <a:r>
              <a:rPr sz="1400" b="1" dirty="0">
                <a:solidFill>
                  <a:srgbClr val="1F7AC4"/>
                </a:solidFill>
                <a:latin typeface="Calibri"/>
              </a:rPr>
              <a:t>— </a:t>
            </a:r>
            <a:r>
              <a:rPr sz="1400" b="1" dirty="0">
                <a:solidFill>
                  <a:srgbClr val="1A1A1A"/>
                </a:solidFill>
                <a:latin typeface="Calibri"/>
              </a:rPr>
              <a:t>pooled scores are decomposed per room to expose 'session-in-disguise' effects.</a:t>
            </a:r>
          </a:p>
          <a:p>
            <a:pPr algn="l">
              <a:lnSpc>
                <a:spcPct val="108000"/>
              </a:lnSpc>
              <a:spcAft>
                <a:spcPts val="1100"/>
              </a:spcAft>
            </a:pPr>
            <a:r>
              <a:rPr sz="1600" b="1" dirty="0">
                <a:solidFill>
                  <a:srgbClr val="1F7AC4"/>
                </a:solidFill>
                <a:latin typeface="Calibri"/>
              </a:rPr>
              <a:t>Reproducibility </a:t>
            </a:r>
            <a:r>
              <a:rPr sz="1400" b="1" dirty="0">
                <a:solidFill>
                  <a:srgbClr val="1F7AC4"/>
                </a:solidFill>
                <a:latin typeface="Calibri"/>
              </a:rPr>
              <a:t>— </a:t>
            </a:r>
            <a:r>
              <a:rPr sz="1400" b="1" dirty="0">
                <a:solidFill>
                  <a:srgbClr val="1A1A1A"/>
                </a:solidFill>
                <a:latin typeface="Calibri"/>
              </a:rPr>
              <a:t>every headline number independently re-verified from the saved artifacts.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4297680"/>
            <a:ext cx="10469880" cy="1691640"/>
          </a:xfrm>
          <a:prstGeom prst="rect">
            <a:avLst/>
          </a:prstGeom>
          <a:solidFill>
            <a:srgbClr val="EAF2FB"/>
          </a:solidFill>
          <a:ln w="13970">
            <a:solidFill>
              <a:srgbClr val="1F7A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4434840"/>
            <a:ext cx="10058400" cy="1372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600" b="1" dirty="0">
                <a:solidFill>
                  <a:srgbClr val="1F7AC4"/>
                </a:solidFill>
                <a:latin typeface="Calibri"/>
              </a:rPr>
              <a:t>Two real defects caught by this discipline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sz="1400" b="1" dirty="0">
                <a:solidFill>
                  <a:srgbClr val="1A1A1A"/>
                </a:solidFill>
                <a:latin typeface="Calibri"/>
              </a:rPr>
              <a:t>A feature-extraction bug — cached 'per-person' features were actually whole-frame (identical for everyone in a shot); re-extracted genuinely per person.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 dirty="0">
                <a:solidFill>
                  <a:srgbClr val="1A1A1A"/>
                </a:solidFill>
                <a:latin typeface="Calibri"/>
              </a:rPr>
              <a:t>•  A stale-evaluation trap — a default path silently scored the old features; an exciting 0.79 'result' was an artifact, re-measured correctly.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0683" y="1618488"/>
            <a:ext cx="5120640" cy="2240280"/>
          </a:xfrm>
          <a:prstGeom prst="rect">
            <a:avLst/>
          </a:prstGeom>
          <a:solidFill>
            <a:srgbClr val="E4F0F1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68680" y="1554480"/>
            <a:ext cx="91440" cy="2240280"/>
          </a:xfrm>
          <a:prstGeom prst="rect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" y="170078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Deployable artifacts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121408"/>
            <a:ext cx="4709159" cy="669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group_collab.py + </a:t>
            </a:r>
            <a:r>
              <a:rPr sz="1400" b="1" dirty="0" err="1">
                <a:solidFill>
                  <a:schemeClr val="bg2">
                    <a:lumMod val="10000"/>
                  </a:schemeClr>
                </a:solidFill>
                <a:latin typeface="Calibri"/>
              </a:rPr>
              <a:t>best_collab_group_</a:t>
            </a:r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  <a:latin typeface="Calibri"/>
              </a:rPr>
              <a:t>gaze</a:t>
            </a:r>
            <a:r>
              <a:rPr sz="1400" b="1" dirty="0" err="1">
                <a:solidFill>
                  <a:schemeClr val="bg2">
                    <a:lumMod val="10000"/>
                  </a:schemeClr>
                </a:solidFill>
                <a:latin typeface="Calibri"/>
              </a:rPr>
              <a:t>.npz</a:t>
            </a:r>
            <a:r>
              <a:rPr sz="1400" b="1" dirty="0">
                <a:solidFill>
                  <a:schemeClr val="bg2">
                    <a:lumMod val="10000"/>
                  </a:schemeClr>
                </a:solidFill>
                <a:latin typeface="Calibri"/>
              </a:rPr>
              <a:t> (group head) and the frozen Swin engagement checkpoint. Inference is pure NumPy — no GPU required at run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5120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554480"/>
            <a:ext cx="91440" cy="2240280"/>
          </a:xfrm>
          <a:prstGeom prst="rect">
            <a:avLst/>
          </a:prstGeom>
          <a:solidFill>
            <a:srgbClr val="1F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70078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How to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121408"/>
            <a:ext cx="4709159" cy="669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006600"/>
                </a:solidFill>
                <a:latin typeface="Calibri"/>
              </a:rPr>
              <a:t>python src/inference/group_collab.py --all  →  prints each session's Collaborative / Not verdict and reproduces the 0.667 LOVO headline.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93192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68680" y="3931920"/>
            <a:ext cx="91440" cy="2103120"/>
          </a:xfrm>
          <a:prstGeom prst="rect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06424" y="407822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" y="4498848"/>
            <a:ext cx="4709159" cy="669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chemeClr val="accent2">
                    <a:lumMod val="50000"/>
                  </a:schemeClr>
                </a:solidFill>
                <a:latin typeface="Calibri"/>
              </a:rPr>
              <a:t>Per-session collaboration verdict with the signals that drove it; per-student engagement over clips. Deterministic and re-runnable for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931920"/>
            <a:ext cx="51206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91440" cy="21031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407822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Cloud-ready (next step)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498848"/>
            <a:ext cx="4709159" cy="669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Package the inference path behind a lightweight app (</a:t>
            </a:r>
            <a:r>
              <a:rPr sz="1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Streamlit</a:t>
            </a:r>
            <a:r>
              <a:rPr sz="1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/ </a:t>
            </a:r>
            <a:r>
              <a:rPr sz="1400" b="1" dirty="0" err="1">
                <a:solidFill>
                  <a:schemeClr val="accent6">
                    <a:lumMod val="50000"/>
                  </a:schemeClr>
                </a:solidFill>
                <a:latin typeface="Calibri"/>
              </a:rPr>
              <a:t>Colab</a:t>
            </a:r>
            <a:r>
              <a:rPr sz="1400" b="1" dirty="0">
                <a:solidFill>
                  <a:schemeClr val="accent6">
                    <a:lumMod val="50000"/>
                  </a:schemeClr>
                </a:solidFill>
                <a:latin typeface="Calibri"/>
              </a:rPr>
              <a:t> link) and host on a cloud platform for a one-click demo URL.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5257800"/>
            <a:ext cx="1143000" cy="160020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1018520" y="0"/>
            <a:ext cx="1188720" cy="137160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2608"/>
            <a:ext cx="875041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25880" y="31089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700" b="1">
                <a:solidFill>
                  <a:srgbClr val="E2000F"/>
                </a:solidFill>
                <a:latin typeface="Arial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07008"/>
            <a:ext cx="11384280" cy="5074920"/>
          </a:xfrm>
          <a:prstGeom prst="rect">
            <a:avLst/>
          </a:prstGeom>
          <a:noFill/>
          <a:ln w="15875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554480"/>
            <a:ext cx="10469880" cy="1371600"/>
          </a:xfrm>
          <a:prstGeom prst="rect">
            <a:avLst/>
          </a:prstGeom>
          <a:solidFill>
            <a:srgbClr val="E4F0F1"/>
          </a:solidFill>
          <a:ln w="15875">
            <a:solidFill>
              <a:srgbClr val="0553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10058400" cy="553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600" b="0" dirty="0">
                <a:solidFill>
                  <a:srgbClr val="05535B"/>
                </a:solidFill>
                <a:latin typeface="Calibri"/>
              </a:rPr>
              <a:t>A complete, honestly-evaluated system. Phase-1 engagement: held-out TEST macro-F1 0.73 / 76.7% (validation 0.90, audited); Phase-2 group collaboration improved to 0.764 with head-pose / gaze (verified; ≈0.70–0.73 regularized), up from the 0.667 signals baseline.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063240"/>
            <a:ext cx="5120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" y="3063240"/>
            <a:ext cx="91440" cy="1600200"/>
          </a:xfrm>
          <a:prstGeom prst="rect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" y="320954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Honest, not overclaimed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630168"/>
            <a:ext cx="4709159" cy="895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595959"/>
                </a:solidFill>
                <a:latin typeface="Calibri"/>
              </a:rPr>
              <a:t>Within-scene pair detection was ruled out across four signal families — with a diagnosis of why. </a:t>
            </a:r>
            <a:r>
              <a:rPr lang="en-US" sz="1400" b="1" dirty="0">
                <a:solidFill>
                  <a:srgbClr val="595959"/>
                </a:solidFill>
              </a:rPr>
              <a:t>Session-level gaze shows a consistent positive signal (0.667 → 0.764),supported by mutual-gaze evidence (AUC 0.705).</a:t>
            </a:r>
            <a:endParaRPr sz="1400" b="1" dirty="0">
              <a:solidFill>
                <a:srgbClr val="595959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17920" y="3063240"/>
            <a:ext cx="5120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3063240"/>
            <a:ext cx="91440" cy="1600200"/>
          </a:xfrm>
          <a:prstGeom prst="rect">
            <a:avLst/>
          </a:prstGeom>
          <a:solidFill>
            <a:srgbClr val="1F7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3209544"/>
            <a:ext cx="470915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b="1" dirty="0">
                <a:solidFill>
                  <a:srgbClr val="1A1A1A"/>
                </a:solidFill>
                <a:latin typeface="Calibri"/>
              </a:rPr>
              <a:t>Built on solid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3630168"/>
            <a:ext cx="4709159" cy="443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400" b="1" dirty="0">
                <a:solidFill>
                  <a:srgbClr val="595959"/>
                </a:solidFill>
                <a:latin typeface="Calibri"/>
              </a:rPr>
              <a:t>Leakage-controlled LOVO + shuffle floors throughout; two real bugs caught and fixed; every number reproduced.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846320"/>
            <a:ext cx="10469880" cy="1097280"/>
          </a:xfrm>
          <a:prstGeom prst="rect">
            <a:avLst/>
          </a:prstGeom>
          <a:solidFill>
            <a:srgbClr val="FBEEE3"/>
          </a:solidFill>
          <a:ln w="13970">
            <a:solidFill>
              <a:srgbClr val="D85A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956048"/>
            <a:ext cx="10058400" cy="545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500"/>
              </a:spcAft>
            </a:pPr>
            <a:r>
              <a:rPr sz="1600" b="1" dirty="0">
                <a:solidFill>
                  <a:srgbClr val="D85A0E"/>
                </a:solidFill>
                <a:latin typeface="Calibri"/>
              </a:rPr>
              <a:t>Future work</a:t>
            </a:r>
            <a:r>
              <a:rPr sz="1350" b="1" dirty="0">
                <a:solidFill>
                  <a:srgbClr val="D85A0E"/>
                </a:solidFill>
                <a:latin typeface="Calibri"/>
              </a:rPr>
              <a:t>  </a:t>
            </a:r>
            <a:r>
              <a:rPr sz="1300" b="0" dirty="0">
                <a:solidFill>
                  <a:srgbClr val="1A1A1A"/>
                </a:solidFill>
                <a:latin typeface="Calibri"/>
              </a:rPr>
              <a:t>— </a:t>
            </a:r>
            <a:r>
              <a:rPr sz="1600" b="1" dirty="0">
                <a:solidFill>
                  <a:srgbClr val="1A1A1A"/>
                </a:solidFill>
                <a:latin typeface="Calibri"/>
              </a:rPr>
              <a:t>more balanced, frame-annotated rooms to test the gaze signal at adequate power; audio (who-addresses-whom) cues; and a hosted cloud demo with a live video walkthrough.</a:t>
            </a:r>
            <a:endParaRPr sz="1300" b="1" dirty="0">
              <a:solidFill>
                <a:srgbClr val="1A1A1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3291840"/>
            <a:ext cx="2103120" cy="3566160"/>
          </a:xfrm>
          <a:prstGeom prst="rtTriangle">
            <a:avLst/>
          </a:prstGeom>
          <a:solidFill>
            <a:srgbClr val="055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 rot="10800000">
            <a:off x="10058400" y="0"/>
            <a:ext cx="2194560" cy="2926080"/>
          </a:xfrm>
          <a:prstGeom prst="rtTriangle">
            <a:avLst/>
          </a:prstGeom>
          <a:solidFill>
            <a:srgbClr val="D85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kmi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188720"/>
            <a:ext cx="1340789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78892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4400" b="1">
                <a:solidFill>
                  <a:srgbClr val="05535B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500"/>
              </a:spcAft>
            </a:pPr>
            <a:r>
              <a:rPr sz="1350" b="0">
                <a:solidFill>
                  <a:srgbClr val="595959"/>
                </a:solidFill>
                <a:latin typeface="Calibri"/>
              </a:rPr>
              <a:t>AI-Based Student Engagement &amp; Collaboration Detection  ·  RTRP II/II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1874</Words>
  <Application>Microsoft Office PowerPoint</Application>
  <PresentationFormat>Widescreen</PresentationFormat>
  <Paragraphs>179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anthatinikhil03@outlook.com</cp:lastModifiedBy>
  <cp:revision>5</cp:revision>
  <dcterms:created xsi:type="dcterms:W3CDTF">2013-01-27T09:14:16Z</dcterms:created>
  <dcterms:modified xsi:type="dcterms:W3CDTF">2026-06-04T20:26:19Z</dcterms:modified>
  <cp:category/>
</cp:coreProperties>
</file>